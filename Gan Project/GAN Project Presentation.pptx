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c3e4ac6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c3e4ac6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c3e4ac6b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c3e4ac6b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c3e4ac6b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c3e4ac6b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c49732b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c49732b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c49732be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c49732be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c49732be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c49732be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c49732be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c49732be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d5c2cc9b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d5c2cc9b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40" Type="http://schemas.openxmlformats.org/officeDocument/2006/relationships/image" Target="../media/image33.jpg"/><Relationship Id="rId20" Type="http://schemas.openxmlformats.org/officeDocument/2006/relationships/image" Target="../media/image16.png"/><Relationship Id="rId41" Type="http://schemas.openxmlformats.org/officeDocument/2006/relationships/image" Target="../media/image43.jpg"/><Relationship Id="rId22" Type="http://schemas.openxmlformats.org/officeDocument/2006/relationships/image" Target="../media/image20.jpg"/><Relationship Id="rId21" Type="http://schemas.openxmlformats.org/officeDocument/2006/relationships/image" Target="../media/image31.png"/><Relationship Id="rId24" Type="http://schemas.openxmlformats.org/officeDocument/2006/relationships/image" Target="../media/image15.jpg"/><Relationship Id="rId23" Type="http://schemas.openxmlformats.org/officeDocument/2006/relationships/image" Target="../media/image22.jpg"/><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7.png"/><Relationship Id="rId9" Type="http://schemas.openxmlformats.org/officeDocument/2006/relationships/image" Target="../media/image12.png"/><Relationship Id="rId26" Type="http://schemas.openxmlformats.org/officeDocument/2006/relationships/image" Target="../media/image25.jpg"/><Relationship Id="rId25" Type="http://schemas.openxmlformats.org/officeDocument/2006/relationships/image" Target="../media/image29.jpg"/><Relationship Id="rId28" Type="http://schemas.openxmlformats.org/officeDocument/2006/relationships/image" Target="../media/image35.jpg"/><Relationship Id="rId27" Type="http://schemas.openxmlformats.org/officeDocument/2006/relationships/image" Target="../media/image28.jpg"/><Relationship Id="rId5" Type="http://schemas.openxmlformats.org/officeDocument/2006/relationships/image" Target="../media/image14.png"/><Relationship Id="rId6" Type="http://schemas.openxmlformats.org/officeDocument/2006/relationships/image" Target="../media/image24.png"/><Relationship Id="rId29" Type="http://schemas.openxmlformats.org/officeDocument/2006/relationships/image" Target="../media/image30.jpg"/><Relationship Id="rId7" Type="http://schemas.openxmlformats.org/officeDocument/2006/relationships/image" Target="../media/image3.png"/><Relationship Id="rId8" Type="http://schemas.openxmlformats.org/officeDocument/2006/relationships/image" Target="../media/image1.png"/><Relationship Id="rId31" Type="http://schemas.openxmlformats.org/officeDocument/2006/relationships/image" Target="../media/image34.jpg"/><Relationship Id="rId30" Type="http://schemas.openxmlformats.org/officeDocument/2006/relationships/image" Target="../media/image46.jpg"/><Relationship Id="rId11" Type="http://schemas.openxmlformats.org/officeDocument/2006/relationships/image" Target="../media/image17.png"/><Relationship Id="rId33" Type="http://schemas.openxmlformats.org/officeDocument/2006/relationships/image" Target="../media/image26.jpg"/><Relationship Id="rId10" Type="http://schemas.openxmlformats.org/officeDocument/2006/relationships/image" Target="../media/image11.png"/><Relationship Id="rId32" Type="http://schemas.openxmlformats.org/officeDocument/2006/relationships/image" Target="../media/image21.jpg"/><Relationship Id="rId13" Type="http://schemas.openxmlformats.org/officeDocument/2006/relationships/image" Target="../media/image7.png"/><Relationship Id="rId35" Type="http://schemas.openxmlformats.org/officeDocument/2006/relationships/image" Target="../media/image41.jpg"/><Relationship Id="rId12" Type="http://schemas.openxmlformats.org/officeDocument/2006/relationships/image" Target="../media/image9.png"/><Relationship Id="rId34" Type="http://schemas.openxmlformats.org/officeDocument/2006/relationships/image" Target="../media/image50.jpg"/><Relationship Id="rId15" Type="http://schemas.openxmlformats.org/officeDocument/2006/relationships/image" Target="../media/image10.png"/><Relationship Id="rId37" Type="http://schemas.openxmlformats.org/officeDocument/2006/relationships/image" Target="../media/image45.jpg"/><Relationship Id="rId14" Type="http://schemas.openxmlformats.org/officeDocument/2006/relationships/image" Target="../media/image2.png"/><Relationship Id="rId36" Type="http://schemas.openxmlformats.org/officeDocument/2006/relationships/image" Target="../media/image32.jpg"/><Relationship Id="rId17" Type="http://schemas.openxmlformats.org/officeDocument/2006/relationships/image" Target="../media/image18.png"/><Relationship Id="rId39" Type="http://schemas.openxmlformats.org/officeDocument/2006/relationships/image" Target="../media/image36.jpg"/><Relationship Id="rId16" Type="http://schemas.openxmlformats.org/officeDocument/2006/relationships/image" Target="../media/image4.png"/><Relationship Id="rId38" Type="http://schemas.openxmlformats.org/officeDocument/2006/relationships/image" Target="../media/image51.jpg"/><Relationship Id="rId19" Type="http://schemas.openxmlformats.org/officeDocument/2006/relationships/image" Target="../media/image6.png"/><Relationship Id="rId18"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40.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2.png"/><Relationship Id="rId4" Type="http://schemas.openxmlformats.org/officeDocument/2006/relationships/image" Target="../media/image39.png"/><Relationship Id="rId5" Type="http://schemas.openxmlformats.org/officeDocument/2006/relationships/image" Target="../media/image54.png"/><Relationship Id="rId6" Type="http://schemas.openxmlformats.org/officeDocument/2006/relationships/image" Target="../media/image44.png"/><Relationship Id="rId7" Type="http://schemas.openxmlformats.org/officeDocument/2006/relationships/image" Target="../media/image53.png"/><Relationship Id="rId8"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GAN Project</a:t>
            </a:r>
            <a:endParaRPr/>
          </a:p>
        </p:txBody>
      </p:sp>
      <p:sp>
        <p:nvSpPr>
          <p:cNvPr id="55" name="Google Shape;55;p13"/>
          <p:cNvSpPr txBox="1"/>
          <p:nvPr>
            <p:ph idx="1" type="subTitle"/>
          </p:nvPr>
        </p:nvSpPr>
        <p:spPr>
          <a:xfrm>
            <a:off x="311700" y="28736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Jack Colvin and Ayaan De Silva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Driving Question: </a:t>
            </a:r>
            <a:r>
              <a:rPr lang="en">
                <a:solidFill>
                  <a:schemeClr val="dk1"/>
                </a:solidFill>
                <a:latin typeface="Times New Roman"/>
                <a:ea typeface="Times New Roman"/>
                <a:cs typeface="Times New Roman"/>
                <a:sym typeface="Times New Roman"/>
              </a:rPr>
              <a:t>How Effectively can a General Adversarial Network (GAN) replicate galaxy morphology?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a:solidFill>
                  <a:schemeClr val="dk1"/>
                </a:solidFill>
                <a:latin typeface="Times New Roman"/>
                <a:ea typeface="Times New Roman"/>
                <a:cs typeface="Times New Roman"/>
                <a:sym typeface="Times New Roman"/>
              </a:rPr>
              <a:t>Process: </a:t>
            </a:r>
            <a:endParaRPr b="1">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Development of a GAN model (Discriminator + Generator) trained on SDSS galaxy data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Analysis of GAN results using Sersic light profile fitting and radial color analysis of GAN results vs training sample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Morphological classification of galaxies using a simple shallow CNN model to assess our model’s potentially for replicating complex morphological features of galaxies </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09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GAN Model Architecture</a:t>
            </a:r>
            <a:endParaRPr b="1">
              <a:latin typeface="Times New Roman"/>
              <a:ea typeface="Times New Roman"/>
              <a:cs typeface="Times New Roman"/>
              <a:sym typeface="Times New Roman"/>
            </a:endParaRPr>
          </a:p>
        </p:txBody>
      </p:sp>
      <p:sp>
        <p:nvSpPr>
          <p:cNvPr id="67" name="Google Shape;67;p15"/>
          <p:cNvSpPr txBox="1"/>
          <p:nvPr/>
        </p:nvSpPr>
        <p:spPr>
          <a:xfrm>
            <a:off x="499250" y="682050"/>
            <a:ext cx="35406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Generator: </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Standard Generator Model based off of torch tutorial: 5 Conv2D layers using nn.sequential architecture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9.48M </a:t>
            </a:r>
            <a:r>
              <a:rPr lang="en">
                <a:solidFill>
                  <a:schemeClr val="dk1"/>
                </a:solidFill>
                <a:latin typeface="Times New Roman"/>
                <a:ea typeface="Times New Roman"/>
                <a:cs typeface="Times New Roman"/>
                <a:sym typeface="Times New Roman"/>
              </a:rPr>
              <a:t>parameters</a:t>
            </a:r>
            <a:r>
              <a:rPr lang="en">
                <a:solidFill>
                  <a:schemeClr val="dk1"/>
                </a:solidFill>
                <a:latin typeface="Times New Roman"/>
                <a:ea typeface="Times New Roman"/>
                <a:cs typeface="Times New Roman"/>
                <a:sym typeface="Times New Roman"/>
              </a:rPr>
              <a:t>: quite a deep/complex model</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Output: 64x64x3 color image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.0002 Learning Rate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pic>
        <p:nvPicPr>
          <p:cNvPr id="68" name="Google Shape;68;p15" title="Screenshot 2025-10-13 144712.png"/>
          <p:cNvPicPr preferRelativeResize="0"/>
          <p:nvPr/>
        </p:nvPicPr>
        <p:blipFill>
          <a:blip r:embed="rId3">
            <a:alphaModFix/>
          </a:blip>
          <a:stretch>
            <a:fillRect/>
          </a:stretch>
        </p:blipFill>
        <p:spPr>
          <a:xfrm>
            <a:off x="4175776" y="2692625"/>
            <a:ext cx="4950201" cy="2185800"/>
          </a:xfrm>
          <a:prstGeom prst="rect">
            <a:avLst/>
          </a:prstGeom>
          <a:noFill/>
          <a:ln>
            <a:noFill/>
          </a:ln>
        </p:spPr>
      </p:pic>
      <p:pic>
        <p:nvPicPr>
          <p:cNvPr id="69" name="Google Shape;69;p15" title="Screenshot 2025-10-13 144330.png"/>
          <p:cNvPicPr preferRelativeResize="0"/>
          <p:nvPr/>
        </p:nvPicPr>
        <p:blipFill>
          <a:blip r:embed="rId4">
            <a:alphaModFix/>
          </a:blip>
          <a:stretch>
            <a:fillRect/>
          </a:stretch>
        </p:blipFill>
        <p:spPr>
          <a:xfrm>
            <a:off x="499250" y="2692625"/>
            <a:ext cx="3362826" cy="2313900"/>
          </a:xfrm>
          <a:prstGeom prst="rect">
            <a:avLst/>
          </a:prstGeom>
          <a:noFill/>
          <a:ln>
            <a:noFill/>
          </a:ln>
        </p:spPr>
      </p:pic>
      <p:sp>
        <p:nvSpPr>
          <p:cNvPr id="70" name="Google Shape;70;p15"/>
          <p:cNvSpPr txBox="1"/>
          <p:nvPr/>
        </p:nvSpPr>
        <p:spPr>
          <a:xfrm>
            <a:off x="4901025" y="682050"/>
            <a:ext cx="3931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Discriminator</a:t>
            </a:r>
            <a:r>
              <a:rPr b="1" lang="en">
                <a:solidFill>
                  <a:schemeClr val="dk1"/>
                </a:solidFill>
                <a:latin typeface="Times New Roman"/>
                <a:ea typeface="Times New Roman"/>
                <a:cs typeface="Times New Roman"/>
                <a:sym typeface="Times New Roman"/>
              </a:rPr>
              <a:t>: </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Similar to Generator Model, 5 Conv2D layers using a sequential model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2.7M parameters, also a deep model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Input: 128x128x3 training image, outputs a feature array with 512 features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 .00075 Learning Rate: smaller than generator to prevent overtraining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75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Gan Outputs vs Training Inputs (500 Epochs) </a:t>
            </a:r>
            <a:endParaRPr b="1">
              <a:latin typeface="Times New Roman"/>
              <a:ea typeface="Times New Roman"/>
              <a:cs typeface="Times New Roman"/>
              <a:sym typeface="Times New Roman"/>
            </a:endParaRPr>
          </a:p>
        </p:txBody>
      </p:sp>
      <p:sp>
        <p:nvSpPr>
          <p:cNvPr id="76" name="Google Shape;76;p16"/>
          <p:cNvSpPr txBox="1"/>
          <p:nvPr>
            <p:ph idx="1" type="body"/>
          </p:nvPr>
        </p:nvSpPr>
        <p:spPr>
          <a:xfrm>
            <a:off x="311700" y="822813"/>
            <a:ext cx="3999900" cy="42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chemeClr val="dk1"/>
                </a:solidFill>
                <a:latin typeface="Times New Roman"/>
                <a:ea typeface="Times New Roman"/>
                <a:cs typeface="Times New Roman"/>
                <a:sym typeface="Times New Roman"/>
              </a:rPr>
              <a:t>Example Gan Images: </a:t>
            </a:r>
            <a:endParaRPr b="1">
              <a:solidFill>
                <a:schemeClr val="dk1"/>
              </a:solidFill>
              <a:latin typeface="Times New Roman"/>
              <a:ea typeface="Times New Roman"/>
              <a:cs typeface="Times New Roman"/>
              <a:sym typeface="Times New Roman"/>
            </a:endParaRPr>
          </a:p>
        </p:txBody>
      </p:sp>
      <p:sp>
        <p:nvSpPr>
          <p:cNvPr id="77" name="Google Shape;77;p16"/>
          <p:cNvSpPr txBox="1"/>
          <p:nvPr>
            <p:ph idx="2" type="body"/>
          </p:nvPr>
        </p:nvSpPr>
        <p:spPr>
          <a:xfrm>
            <a:off x="4427750" y="822813"/>
            <a:ext cx="3999900" cy="42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chemeClr val="dk1"/>
                </a:solidFill>
                <a:latin typeface="Times New Roman"/>
                <a:ea typeface="Times New Roman"/>
                <a:cs typeface="Times New Roman"/>
                <a:sym typeface="Times New Roman"/>
              </a:rPr>
              <a:t>Example Training Images:</a:t>
            </a:r>
            <a:endParaRPr b="1">
              <a:solidFill>
                <a:schemeClr val="dk1"/>
              </a:solidFill>
              <a:latin typeface="Times New Roman"/>
              <a:ea typeface="Times New Roman"/>
              <a:cs typeface="Times New Roman"/>
              <a:sym typeface="Times New Roman"/>
            </a:endParaRPr>
          </a:p>
        </p:txBody>
      </p:sp>
      <p:pic>
        <p:nvPicPr>
          <p:cNvPr id="78" name="Google Shape;78;p16" title="epoch_499_39.png"/>
          <p:cNvPicPr preferRelativeResize="0"/>
          <p:nvPr/>
        </p:nvPicPr>
        <p:blipFill>
          <a:blip r:embed="rId3">
            <a:alphaModFix/>
          </a:blip>
          <a:stretch>
            <a:fillRect/>
          </a:stretch>
        </p:blipFill>
        <p:spPr>
          <a:xfrm>
            <a:off x="311700" y="1318600"/>
            <a:ext cx="609600" cy="609600"/>
          </a:xfrm>
          <a:prstGeom prst="rect">
            <a:avLst/>
          </a:prstGeom>
          <a:noFill/>
          <a:ln>
            <a:noFill/>
          </a:ln>
        </p:spPr>
      </p:pic>
      <p:pic>
        <p:nvPicPr>
          <p:cNvPr id="79" name="Google Shape;79;p16" title="epoch_499_28.png"/>
          <p:cNvPicPr preferRelativeResize="0"/>
          <p:nvPr/>
        </p:nvPicPr>
        <p:blipFill>
          <a:blip r:embed="rId4">
            <a:alphaModFix/>
          </a:blip>
          <a:stretch>
            <a:fillRect/>
          </a:stretch>
        </p:blipFill>
        <p:spPr>
          <a:xfrm>
            <a:off x="1073700" y="1318600"/>
            <a:ext cx="609600" cy="609600"/>
          </a:xfrm>
          <a:prstGeom prst="rect">
            <a:avLst/>
          </a:prstGeom>
          <a:noFill/>
          <a:ln>
            <a:noFill/>
          </a:ln>
        </p:spPr>
      </p:pic>
      <p:pic>
        <p:nvPicPr>
          <p:cNvPr id="80" name="Google Shape;80;p16" title="epoch_499_34.png"/>
          <p:cNvPicPr preferRelativeResize="0"/>
          <p:nvPr/>
        </p:nvPicPr>
        <p:blipFill>
          <a:blip r:embed="rId5">
            <a:alphaModFix/>
          </a:blip>
          <a:stretch>
            <a:fillRect/>
          </a:stretch>
        </p:blipFill>
        <p:spPr>
          <a:xfrm>
            <a:off x="1835700" y="1318600"/>
            <a:ext cx="609600" cy="609600"/>
          </a:xfrm>
          <a:prstGeom prst="rect">
            <a:avLst/>
          </a:prstGeom>
          <a:noFill/>
          <a:ln>
            <a:noFill/>
          </a:ln>
        </p:spPr>
      </p:pic>
      <p:pic>
        <p:nvPicPr>
          <p:cNvPr id="81" name="Google Shape;81;p16" title="epoch_499_34.png"/>
          <p:cNvPicPr preferRelativeResize="0"/>
          <p:nvPr/>
        </p:nvPicPr>
        <p:blipFill>
          <a:blip r:embed="rId5">
            <a:alphaModFix/>
          </a:blip>
          <a:stretch>
            <a:fillRect/>
          </a:stretch>
        </p:blipFill>
        <p:spPr>
          <a:xfrm>
            <a:off x="311700" y="2080600"/>
            <a:ext cx="609600" cy="609600"/>
          </a:xfrm>
          <a:prstGeom prst="rect">
            <a:avLst/>
          </a:prstGeom>
          <a:noFill/>
          <a:ln>
            <a:noFill/>
          </a:ln>
        </p:spPr>
      </p:pic>
      <p:pic>
        <p:nvPicPr>
          <p:cNvPr id="82" name="Google Shape;82;p16" title="epoch_499_35.png"/>
          <p:cNvPicPr preferRelativeResize="0"/>
          <p:nvPr/>
        </p:nvPicPr>
        <p:blipFill>
          <a:blip r:embed="rId6">
            <a:alphaModFix/>
          </a:blip>
          <a:stretch>
            <a:fillRect/>
          </a:stretch>
        </p:blipFill>
        <p:spPr>
          <a:xfrm>
            <a:off x="2597700" y="1318600"/>
            <a:ext cx="609600" cy="609600"/>
          </a:xfrm>
          <a:prstGeom prst="rect">
            <a:avLst/>
          </a:prstGeom>
          <a:noFill/>
          <a:ln>
            <a:noFill/>
          </a:ln>
        </p:spPr>
      </p:pic>
      <p:pic>
        <p:nvPicPr>
          <p:cNvPr id="83" name="Google Shape;83;p16" title="epoch_499_36.png"/>
          <p:cNvPicPr preferRelativeResize="0"/>
          <p:nvPr/>
        </p:nvPicPr>
        <p:blipFill>
          <a:blip r:embed="rId7">
            <a:alphaModFix/>
          </a:blip>
          <a:stretch>
            <a:fillRect/>
          </a:stretch>
        </p:blipFill>
        <p:spPr>
          <a:xfrm>
            <a:off x="1073700" y="2080600"/>
            <a:ext cx="609600" cy="609600"/>
          </a:xfrm>
          <a:prstGeom prst="rect">
            <a:avLst/>
          </a:prstGeom>
          <a:noFill/>
          <a:ln>
            <a:noFill/>
          </a:ln>
        </p:spPr>
      </p:pic>
      <p:pic>
        <p:nvPicPr>
          <p:cNvPr id="84" name="Google Shape;84;p16" title="epoch_499_37.png"/>
          <p:cNvPicPr preferRelativeResize="0"/>
          <p:nvPr/>
        </p:nvPicPr>
        <p:blipFill>
          <a:blip r:embed="rId8">
            <a:alphaModFix/>
          </a:blip>
          <a:stretch>
            <a:fillRect/>
          </a:stretch>
        </p:blipFill>
        <p:spPr>
          <a:xfrm>
            <a:off x="3359700" y="1318600"/>
            <a:ext cx="609600" cy="609600"/>
          </a:xfrm>
          <a:prstGeom prst="rect">
            <a:avLst/>
          </a:prstGeom>
          <a:noFill/>
          <a:ln>
            <a:noFill/>
          </a:ln>
        </p:spPr>
      </p:pic>
      <p:pic>
        <p:nvPicPr>
          <p:cNvPr id="85" name="Google Shape;85;p16" title="epoch_499_32.png"/>
          <p:cNvPicPr preferRelativeResize="0"/>
          <p:nvPr/>
        </p:nvPicPr>
        <p:blipFill>
          <a:blip r:embed="rId9">
            <a:alphaModFix/>
          </a:blip>
          <a:stretch>
            <a:fillRect/>
          </a:stretch>
        </p:blipFill>
        <p:spPr>
          <a:xfrm>
            <a:off x="1835700" y="2080600"/>
            <a:ext cx="609600" cy="609600"/>
          </a:xfrm>
          <a:prstGeom prst="rect">
            <a:avLst/>
          </a:prstGeom>
          <a:noFill/>
          <a:ln>
            <a:noFill/>
          </a:ln>
        </p:spPr>
      </p:pic>
      <p:pic>
        <p:nvPicPr>
          <p:cNvPr id="86" name="Google Shape;86;p16" title="epoch_499_33.png"/>
          <p:cNvPicPr preferRelativeResize="0"/>
          <p:nvPr/>
        </p:nvPicPr>
        <p:blipFill>
          <a:blip r:embed="rId10">
            <a:alphaModFix/>
          </a:blip>
          <a:stretch>
            <a:fillRect/>
          </a:stretch>
        </p:blipFill>
        <p:spPr>
          <a:xfrm>
            <a:off x="2597700" y="2080600"/>
            <a:ext cx="609600" cy="609600"/>
          </a:xfrm>
          <a:prstGeom prst="rect">
            <a:avLst/>
          </a:prstGeom>
          <a:noFill/>
          <a:ln>
            <a:noFill/>
          </a:ln>
        </p:spPr>
      </p:pic>
      <p:pic>
        <p:nvPicPr>
          <p:cNvPr id="87" name="Google Shape;87;p16" title="epoch_499_30.png"/>
          <p:cNvPicPr preferRelativeResize="0"/>
          <p:nvPr/>
        </p:nvPicPr>
        <p:blipFill>
          <a:blip r:embed="rId11">
            <a:alphaModFix/>
          </a:blip>
          <a:stretch>
            <a:fillRect/>
          </a:stretch>
        </p:blipFill>
        <p:spPr>
          <a:xfrm>
            <a:off x="3359700" y="2080600"/>
            <a:ext cx="609600" cy="609600"/>
          </a:xfrm>
          <a:prstGeom prst="rect">
            <a:avLst/>
          </a:prstGeom>
          <a:noFill/>
          <a:ln>
            <a:noFill/>
          </a:ln>
        </p:spPr>
      </p:pic>
      <p:pic>
        <p:nvPicPr>
          <p:cNvPr id="88" name="Google Shape;88;p16" title="epoch_499_82.png"/>
          <p:cNvPicPr preferRelativeResize="0"/>
          <p:nvPr/>
        </p:nvPicPr>
        <p:blipFill>
          <a:blip r:embed="rId12">
            <a:alphaModFix/>
          </a:blip>
          <a:stretch>
            <a:fillRect/>
          </a:stretch>
        </p:blipFill>
        <p:spPr>
          <a:xfrm>
            <a:off x="311700" y="2851425"/>
            <a:ext cx="609600" cy="609600"/>
          </a:xfrm>
          <a:prstGeom prst="rect">
            <a:avLst/>
          </a:prstGeom>
          <a:noFill/>
          <a:ln>
            <a:noFill/>
          </a:ln>
        </p:spPr>
      </p:pic>
      <p:pic>
        <p:nvPicPr>
          <p:cNvPr id="89" name="Google Shape;89;p16" title="epoch_499_83.png"/>
          <p:cNvPicPr preferRelativeResize="0"/>
          <p:nvPr/>
        </p:nvPicPr>
        <p:blipFill>
          <a:blip r:embed="rId13">
            <a:alphaModFix/>
          </a:blip>
          <a:stretch>
            <a:fillRect/>
          </a:stretch>
        </p:blipFill>
        <p:spPr>
          <a:xfrm>
            <a:off x="3359700" y="2842600"/>
            <a:ext cx="609600" cy="609600"/>
          </a:xfrm>
          <a:prstGeom prst="rect">
            <a:avLst/>
          </a:prstGeom>
          <a:noFill/>
          <a:ln>
            <a:noFill/>
          </a:ln>
        </p:spPr>
      </p:pic>
      <p:pic>
        <p:nvPicPr>
          <p:cNvPr id="90" name="Google Shape;90;p16" title="epoch_499_63.png"/>
          <p:cNvPicPr preferRelativeResize="0"/>
          <p:nvPr/>
        </p:nvPicPr>
        <p:blipFill>
          <a:blip r:embed="rId14">
            <a:alphaModFix/>
          </a:blip>
          <a:stretch>
            <a:fillRect/>
          </a:stretch>
        </p:blipFill>
        <p:spPr>
          <a:xfrm>
            <a:off x="1835700" y="2851425"/>
            <a:ext cx="609600" cy="609600"/>
          </a:xfrm>
          <a:prstGeom prst="rect">
            <a:avLst/>
          </a:prstGeom>
          <a:noFill/>
          <a:ln>
            <a:noFill/>
          </a:ln>
        </p:spPr>
      </p:pic>
      <p:pic>
        <p:nvPicPr>
          <p:cNvPr id="91" name="Google Shape;91;p16" title="epoch_499_64.png"/>
          <p:cNvPicPr preferRelativeResize="0"/>
          <p:nvPr/>
        </p:nvPicPr>
        <p:blipFill>
          <a:blip r:embed="rId15">
            <a:alphaModFix/>
          </a:blip>
          <a:stretch>
            <a:fillRect/>
          </a:stretch>
        </p:blipFill>
        <p:spPr>
          <a:xfrm>
            <a:off x="1073700" y="2860250"/>
            <a:ext cx="609600" cy="609600"/>
          </a:xfrm>
          <a:prstGeom prst="rect">
            <a:avLst/>
          </a:prstGeom>
          <a:noFill/>
          <a:ln>
            <a:noFill/>
          </a:ln>
        </p:spPr>
      </p:pic>
      <p:pic>
        <p:nvPicPr>
          <p:cNvPr id="92" name="Google Shape;92;p16" title="epoch_499_68.png"/>
          <p:cNvPicPr preferRelativeResize="0"/>
          <p:nvPr/>
        </p:nvPicPr>
        <p:blipFill>
          <a:blip r:embed="rId16">
            <a:alphaModFix/>
          </a:blip>
          <a:stretch>
            <a:fillRect/>
          </a:stretch>
        </p:blipFill>
        <p:spPr>
          <a:xfrm>
            <a:off x="1073700" y="3586950"/>
            <a:ext cx="609600" cy="609600"/>
          </a:xfrm>
          <a:prstGeom prst="rect">
            <a:avLst/>
          </a:prstGeom>
          <a:noFill/>
          <a:ln>
            <a:noFill/>
          </a:ln>
        </p:spPr>
      </p:pic>
      <p:pic>
        <p:nvPicPr>
          <p:cNvPr id="93" name="Google Shape;93;p16" title="epoch_499_70.png"/>
          <p:cNvPicPr preferRelativeResize="0"/>
          <p:nvPr/>
        </p:nvPicPr>
        <p:blipFill>
          <a:blip r:embed="rId17">
            <a:alphaModFix/>
          </a:blip>
          <a:stretch>
            <a:fillRect/>
          </a:stretch>
        </p:blipFill>
        <p:spPr>
          <a:xfrm>
            <a:off x="1835700" y="3586938"/>
            <a:ext cx="609600" cy="609600"/>
          </a:xfrm>
          <a:prstGeom prst="rect">
            <a:avLst/>
          </a:prstGeom>
          <a:noFill/>
          <a:ln>
            <a:noFill/>
          </a:ln>
        </p:spPr>
      </p:pic>
      <p:pic>
        <p:nvPicPr>
          <p:cNvPr id="94" name="Google Shape;94;p16" title="epoch_499_72.png"/>
          <p:cNvPicPr preferRelativeResize="0"/>
          <p:nvPr/>
        </p:nvPicPr>
        <p:blipFill>
          <a:blip r:embed="rId18">
            <a:alphaModFix/>
          </a:blip>
          <a:stretch>
            <a:fillRect/>
          </a:stretch>
        </p:blipFill>
        <p:spPr>
          <a:xfrm>
            <a:off x="2597700" y="2842600"/>
            <a:ext cx="609600" cy="609600"/>
          </a:xfrm>
          <a:prstGeom prst="rect">
            <a:avLst/>
          </a:prstGeom>
          <a:noFill/>
          <a:ln>
            <a:noFill/>
          </a:ln>
        </p:spPr>
      </p:pic>
      <p:pic>
        <p:nvPicPr>
          <p:cNvPr id="95" name="Google Shape;95;p16" title="epoch_499_73.png"/>
          <p:cNvPicPr preferRelativeResize="0"/>
          <p:nvPr/>
        </p:nvPicPr>
        <p:blipFill>
          <a:blip r:embed="rId19">
            <a:alphaModFix/>
          </a:blip>
          <a:stretch>
            <a:fillRect/>
          </a:stretch>
        </p:blipFill>
        <p:spPr>
          <a:xfrm>
            <a:off x="3359700" y="3586950"/>
            <a:ext cx="609600" cy="609600"/>
          </a:xfrm>
          <a:prstGeom prst="rect">
            <a:avLst/>
          </a:prstGeom>
          <a:noFill/>
          <a:ln>
            <a:noFill/>
          </a:ln>
        </p:spPr>
      </p:pic>
      <p:pic>
        <p:nvPicPr>
          <p:cNvPr id="96" name="Google Shape;96;p16" title="epoch_499_75.png"/>
          <p:cNvPicPr preferRelativeResize="0"/>
          <p:nvPr/>
        </p:nvPicPr>
        <p:blipFill>
          <a:blip r:embed="rId20">
            <a:alphaModFix/>
          </a:blip>
          <a:stretch>
            <a:fillRect/>
          </a:stretch>
        </p:blipFill>
        <p:spPr>
          <a:xfrm>
            <a:off x="311700" y="3586950"/>
            <a:ext cx="609600" cy="609600"/>
          </a:xfrm>
          <a:prstGeom prst="rect">
            <a:avLst/>
          </a:prstGeom>
          <a:noFill/>
          <a:ln>
            <a:noFill/>
          </a:ln>
        </p:spPr>
      </p:pic>
      <p:pic>
        <p:nvPicPr>
          <p:cNvPr id="97" name="Google Shape;97;p16" title="epoch_499_77.png"/>
          <p:cNvPicPr preferRelativeResize="0"/>
          <p:nvPr/>
        </p:nvPicPr>
        <p:blipFill>
          <a:blip r:embed="rId21">
            <a:alphaModFix/>
          </a:blip>
          <a:stretch>
            <a:fillRect/>
          </a:stretch>
        </p:blipFill>
        <p:spPr>
          <a:xfrm>
            <a:off x="2597700" y="3586950"/>
            <a:ext cx="609600" cy="609600"/>
          </a:xfrm>
          <a:prstGeom prst="rect">
            <a:avLst/>
          </a:prstGeom>
          <a:noFill/>
          <a:ln>
            <a:noFill/>
          </a:ln>
        </p:spPr>
      </p:pic>
      <p:pic>
        <p:nvPicPr>
          <p:cNvPr id="98" name="Google Shape;98;p16" title="16.4504_0.0594_hscs.jpg"/>
          <p:cNvPicPr preferRelativeResize="0"/>
          <p:nvPr/>
        </p:nvPicPr>
        <p:blipFill>
          <a:blip r:embed="rId22">
            <a:alphaModFix/>
          </a:blip>
          <a:stretch>
            <a:fillRect/>
          </a:stretch>
        </p:blipFill>
        <p:spPr>
          <a:xfrm>
            <a:off x="4427750" y="1318600"/>
            <a:ext cx="609600" cy="609600"/>
          </a:xfrm>
          <a:prstGeom prst="rect">
            <a:avLst/>
          </a:prstGeom>
          <a:noFill/>
          <a:ln>
            <a:noFill/>
          </a:ln>
        </p:spPr>
      </p:pic>
      <p:pic>
        <p:nvPicPr>
          <p:cNvPr id="99" name="Google Shape;99;p16" title="16.4154_-0.8754_hscs.jpg"/>
          <p:cNvPicPr preferRelativeResize="0"/>
          <p:nvPr/>
        </p:nvPicPr>
        <p:blipFill>
          <a:blip r:embed="rId23">
            <a:alphaModFix/>
          </a:blip>
          <a:stretch>
            <a:fillRect/>
          </a:stretch>
        </p:blipFill>
        <p:spPr>
          <a:xfrm>
            <a:off x="5197775" y="1318600"/>
            <a:ext cx="609600" cy="609600"/>
          </a:xfrm>
          <a:prstGeom prst="rect">
            <a:avLst/>
          </a:prstGeom>
          <a:noFill/>
          <a:ln>
            <a:noFill/>
          </a:ln>
        </p:spPr>
      </p:pic>
      <p:pic>
        <p:nvPicPr>
          <p:cNvPr id="100" name="Google Shape;100;p16" title="16.4929_-0.8842_hscs.jpg"/>
          <p:cNvPicPr preferRelativeResize="0"/>
          <p:nvPr/>
        </p:nvPicPr>
        <p:blipFill>
          <a:blip r:embed="rId24">
            <a:alphaModFix/>
          </a:blip>
          <a:stretch>
            <a:fillRect/>
          </a:stretch>
        </p:blipFill>
        <p:spPr>
          <a:xfrm>
            <a:off x="5967800" y="1318600"/>
            <a:ext cx="609600" cy="609600"/>
          </a:xfrm>
          <a:prstGeom prst="rect">
            <a:avLst/>
          </a:prstGeom>
          <a:noFill/>
          <a:ln>
            <a:noFill/>
          </a:ln>
        </p:spPr>
      </p:pic>
      <p:pic>
        <p:nvPicPr>
          <p:cNvPr id="101" name="Google Shape;101;p16" title="16.4531_1.1074_hscs.jpg"/>
          <p:cNvPicPr preferRelativeResize="0"/>
          <p:nvPr/>
        </p:nvPicPr>
        <p:blipFill>
          <a:blip r:embed="rId25">
            <a:alphaModFix/>
          </a:blip>
          <a:stretch>
            <a:fillRect/>
          </a:stretch>
        </p:blipFill>
        <p:spPr>
          <a:xfrm>
            <a:off x="6737825" y="1318600"/>
            <a:ext cx="609600" cy="609600"/>
          </a:xfrm>
          <a:prstGeom prst="rect">
            <a:avLst/>
          </a:prstGeom>
          <a:noFill/>
          <a:ln>
            <a:noFill/>
          </a:ln>
        </p:spPr>
      </p:pic>
      <p:pic>
        <p:nvPicPr>
          <p:cNvPr id="102" name="Google Shape;102;p16" title="16.4317_-0.8501_hscs.jpg"/>
          <p:cNvPicPr preferRelativeResize="0"/>
          <p:nvPr/>
        </p:nvPicPr>
        <p:blipFill>
          <a:blip r:embed="rId26">
            <a:alphaModFix/>
          </a:blip>
          <a:stretch>
            <a:fillRect/>
          </a:stretch>
        </p:blipFill>
        <p:spPr>
          <a:xfrm>
            <a:off x="7507850" y="1318600"/>
            <a:ext cx="609600" cy="609600"/>
          </a:xfrm>
          <a:prstGeom prst="rect">
            <a:avLst/>
          </a:prstGeom>
          <a:noFill/>
          <a:ln>
            <a:noFill/>
          </a:ln>
        </p:spPr>
      </p:pic>
      <p:pic>
        <p:nvPicPr>
          <p:cNvPr id="103" name="Google Shape;103;p16" title="16.6454_-0.4982_hscs.jpg"/>
          <p:cNvPicPr preferRelativeResize="0"/>
          <p:nvPr/>
        </p:nvPicPr>
        <p:blipFill>
          <a:blip r:embed="rId27">
            <a:alphaModFix/>
          </a:blip>
          <a:stretch>
            <a:fillRect/>
          </a:stretch>
        </p:blipFill>
        <p:spPr>
          <a:xfrm>
            <a:off x="4427750" y="2062950"/>
            <a:ext cx="609600" cy="609600"/>
          </a:xfrm>
          <a:prstGeom prst="rect">
            <a:avLst/>
          </a:prstGeom>
          <a:noFill/>
          <a:ln>
            <a:noFill/>
          </a:ln>
        </p:spPr>
      </p:pic>
      <p:pic>
        <p:nvPicPr>
          <p:cNvPr id="104" name="Google Shape;104;p16" title="16.9736_0.3263_hscs.jpg"/>
          <p:cNvPicPr preferRelativeResize="0"/>
          <p:nvPr/>
        </p:nvPicPr>
        <p:blipFill>
          <a:blip r:embed="rId28">
            <a:alphaModFix/>
          </a:blip>
          <a:stretch>
            <a:fillRect/>
          </a:stretch>
        </p:blipFill>
        <p:spPr>
          <a:xfrm>
            <a:off x="5197775" y="2062950"/>
            <a:ext cx="609600" cy="609600"/>
          </a:xfrm>
          <a:prstGeom prst="rect">
            <a:avLst/>
          </a:prstGeom>
          <a:noFill/>
          <a:ln>
            <a:noFill/>
          </a:ln>
        </p:spPr>
      </p:pic>
      <p:pic>
        <p:nvPicPr>
          <p:cNvPr id="105" name="Google Shape;105;p16" title="16.8809_-0.8009_hscs.jpg"/>
          <p:cNvPicPr preferRelativeResize="0"/>
          <p:nvPr/>
        </p:nvPicPr>
        <p:blipFill>
          <a:blip r:embed="rId29">
            <a:alphaModFix/>
          </a:blip>
          <a:stretch>
            <a:fillRect/>
          </a:stretch>
        </p:blipFill>
        <p:spPr>
          <a:xfrm>
            <a:off x="5967800" y="2062950"/>
            <a:ext cx="609600" cy="609600"/>
          </a:xfrm>
          <a:prstGeom prst="rect">
            <a:avLst/>
          </a:prstGeom>
          <a:noFill/>
          <a:ln>
            <a:noFill/>
          </a:ln>
        </p:spPr>
      </p:pic>
      <p:pic>
        <p:nvPicPr>
          <p:cNvPr id="106" name="Google Shape;106;p16" title="16.8305_-0.6233_hscs.jpg"/>
          <p:cNvPicPr preferRelativeResize="0"/>
          <p:nvPr/>
        </p:nvPicPr>
        <p:blipFill>
          <a:blip r:embed="rId30">
            <a:alphaModFix/>
          </a:blip>
          <a:stretch>
            <a:fillRect/>
          </a:stretch>
        </p:blipFill>
        <p:spPr>
          <a:xfrm>
            <a:off x="6737825" y="2062950"/>
            <a:ext cx="609600" cy="609600"/>
          </a:xfrm>
          <a:prstGeom prst="rect">
            <a:avLst/>
          </a:prstGeom>
          <a:noFill/>
          <a:ln>
            <a:noFill/>
          </a:ln>
        </p:spPr>
      </p:pic>
      <p:pic>
        <p:nvPicPr>
          <p:cNvPr id="107" name="Google Shape;107;p16" title="29.0215_-0.1227_hscs.jpg"/>
          <p:cNvPicPr preferRelativeResize="0"/>
          <p:nvPr/>
        </p:nvPicPr>
        <p:blipFill>
          <a:blip r:embed="rId31">
            <a:alphaModFix/>
          </a:blip>
          <a:stretch>
            <a:fillRect/>
          </a:stretch>
        </p:blipFill>
        <p:spPr>
          <a:xfrm>
            <a:off x="7507850" y="2062950"/>
            <a:ext cx="609600" cy="609600"/>
          </a:xfrm>
          <a:prstGeom prst="rect">
            <a:avLst/>
          </a:prstGeom>
          <a:noFill/>
          <a:ln>
            <a:noFill/>
          </a:ln>
        </p:spPr>
      </p:pic>
      <p:pic>
        <p:nvPicPr>
          <p:cNvPr id="108" name="Google Shape;108;p16" title="29.3100_0.3982_hscs.jpg"/>
          <p:cNvPicPr preferRelativeResize="0"/>
          <p:nvPr/>
        </p:nvPicPr>
        <p:blipFill>
          <a:blip r:embed="rId32">
            <a:alphaModFix/>
          </a:blip>
          <a:stretch>
            <a:fillRect/>
          </a:stretch>
        </p:blipFill>
        <p:spPr>
          <a:xfrm>
            <a:off x="4427750" y="2807300"/>
            <a:ext cx="609600" cy="609600"/>
          </a:xfrm>
          <a:prstGeom prst="rect">
            <a:avLst/>
          </a:prstGeom>
          <a:noFill/>
          <a:ln>
            <a:noFill/>
          </a:ln>
        </p:spPr>
      </p:pic>
      <p:pic>
        <p:nvPicPr>
          <p:cNvPr id="109" name="Google Shape;109;p16" title="30.5519_-1.0081_hscs.jpg"/>
          <p:cNvPicPr preferRelativeResize="0"/>
          <p:nvPr/>
        </p:nvPicPr>
        <p:blipFill>
          <a:blip r:embed="rId33">
            <a:alphaModFix/>
          </a:blip>
          <a:stretch>
            <a:fillRect/>
          </a:stretch>
        </p:blipFill>
        <p:spPr>
          <a:xfrm>
            <a:off x="5197775" y="2807300"/>
            <a:ext cx="609600" cy="609600"/>
          </a:xfrm>
          <a:prstGeom prst="rect">
            <a:avLst/>
          </a:prstGeom>
          <a:noFill/>
          <a:ln>
            <a:noFill/>
          </a:ln>
        </p:spPr>
      </p:pic>
      <p:pic>
        <p:nvPicPr>
          <p:cNvPr id="110" name="Google Shape;110;p16" title="30.8925_-1.0168_hscs.jpg"/>
          <p:cNvPicPr preferRelativeResize="0"/>
          <p:nvPr/>
        </p:nvPicPr>
        <p:blipFill>
          <a:blip r:embed="rId34">
            <a:alphaModFix/>
          </a:blip>
          <a:stretch>
            <a:fillRect/>
          </a:stretch>
        </p:blipFill>
        <p:spPr>
          <a:xfrm>
            <a:off x="5967800" y="2807300"/>
            <a:ext cx="609600" cy="609600"/>
          </a:xfrm>
          <a:prstGeom prst="rect">
            <a:avLst/>
          </a:prstGeom>
          <a:noFill/>
          <a:ln>
            <a:noFill/>
          </a:ln>
        </p:spPr>
      </p:pic>
      <p:pic>
        <p:nvPicPr>
          <p:cNvPr id="111" name="Google Shape;111;p16" title="31.9295_-0.1158_hscs.jpg"/>
          <p:cNvPicPr preferRelativeResize="0"/>
          <p:nvPr/>
        </p:nvPicPr>
        <p:blipFill>
          <a:blip r:embed="rId35">
            <a:alphaModFix/>
          </a:blip>
          <a:stretch>
            <a:fillRect/>
          </a:stretch>
        </p:blipFill>
        <p:spPr>
          <a:xfrm>
            <a:off x="6737825" y="2807300"/>
            <a:ext cx="609600" cy="609600"/>
          </a:xfrm>
          <a:prstGeom prst="rect">
            <a:avLst/>
          </a:prstGeom>
          <a:noFill/>
          <a:ln>
            <a:noFill/>
          </a:ln>
        </p:spPr>
      </p:pic>
      <p:pic>
        <p:nvPicPr>
          <p:cNvPr id="112" name="Google Shape;112;p16" title="37.5807_-0.8642_hscs.jpg"/>
          <p:cNvPicPr preferRelativeResize="0"/>
          <p:nvPr/>
        </p:nvPicPr>
        <p:blipFill>
          <a:blip r:embed="rId36">
            <a:alphaModFix/>
          </a:blip>
          <a:stretch>
            <a:fillRect/>
          </a:stretch>
        </p:blipFill>
        <p:spPr>
          <a:xfrm>
            <a:off x="7507850" y="2807300"/>
            <a:ext cx="609600" cy="609600"/>
          </a:xfrm>
          <a:prstGeom prst="rect">
            <a:avLst/>
          </a:prstGeom>
          <a:noFill/>
          <a:ln>
            <a:noFill/>
          </a:ln>
        </p:spPr>
      </p:pic>
      <p:pic>
        <p:nvPicPr>
          <p:cNvPr id="113" name="Google Shape;113;p16" title="17.0130_-0.3825_hscs.jpg"/>
          <p:cNvPicPr preferRelativeResize="0"/>
          <p:nvPr/>
        </p:nvPicPr>
        <p:blipFill>
          <a:blip r:embed="rId37">
            <a:alphaModFix/>
          </a:blip>
          <a:stretch>
            <a:fillRect/>
          </a:stretch>
        </p:blipFill>
        <p:spPr>
          <a:xfrm>
            <a:off x="4427750" y="3551650"/>
            <a:ext cx="609600" cy="609600"/>
          </a:xfrm>
          <a:prstGeom prst="rect">
            <a:avLst/>
          </a:prstGeom>
          <a:noFill/>
          <a:ln>
            <a:noFill/>
          </a:ln>
        </p:spPr>
      </p:pic>
      <p:pic>
        <p:nvPicPr>
          <p:cNvPr id="114" name="Google Shape;114;p16" title="17.5792_-0.7775_hscs.jpg"/>
          <p:cNvPicPr preferRelativeResize="0"/>
          <p:nvPr/>
        </p:nvPicPr>
        <p:blipFill>
          <a:blip r:embed="rId38">
            <a:alphaModFix/>
          </a:blip>
          <a:stretch>
            <a:fillRect/>
          </a:stretch>
        </p:blipFill>
        <p:spPr>
          <a:xfrm>
            <a:off x="5197775" y="3551650"/>
            <a:ext cx="609600" cy="609600"/>
          </a:xfrm>
          <a:prstGeom prst="rect">
            <a:avLst/>
          </a:prstGeom>
          <a:noFill/>
          <a:ln>
            <a:noFill/>
          </a:ln>
        </p:spPr>
      </p:pic>
      <p:pic>
        <p:nvPicPr>
          <p:cNvPr id="115" name="Google Shape;115;p16" title="18.6828_0.2860_hscs.jpg"/>
          <p:cNvPicPr preferRelativeResize="0"/>
          <p:nvPr/>
        </p:nvPicPr>
        <p:blipFill>
          <a:blip r:embed="rId39">
            <a:alphaModFix/>
          </a:blip>
          <a:stretch>
            <a:fillRect/>
          </a:stretch>
        </p:blipFill>
        <p:spPr>
          <a:xfrm>
            <a:off x="5967800" y="3551650"/>
            <a:ext cx="609600" cy="609600"/>
          </a:xfrm>
          <a:prstGeom prst="rect">
            <a:avLst/>
          </a:prstGeom>
          <a:noFill/>
          <a:ln>
            <a:noFill/>
          </a:ln>
        </p:spPr>
      </p:pic>
      <p:pic>
        <p:nvPicPr>
          <p:cNvPr id="116" name="Google Shape;116;p16" title="19.3583_0.3697_hscs.jpg"/>
          <p:cNvPicPr preferRelativeResize="0"/>
          <p:nvPr/>
        </p:nvPicPr>
        <p:blipFill>
          <a:blip r:embed="rId40">
            <a:alphaModFix/>
          </a:blip>
          <a:stretch>
            <a:fillRect/>
          </a:stretch>
        </p:blipFill>
        <p:spPr>
          <a:xfrm>
            <a:off x="6737825" y="3551650"/>
            <a:ext cx="609600" cy="609600"/>
          </a:xfrm>
          <a:prstGeom prst="rect">
            <a:avLst/>
          </a:prstGeom>
          <a:noFill/>
          <a:ln>
            <a:noFill/>
          </a:ln>
        </p:spPr>
      </p:pic>
      <p:pic>
        <p:nvPicPr>
          <p:cNvPr id="117" name="Google Shape;117;p16" title="20.1661_-0.4924_hscs.jpg"/>
          <p:cNvPicPr preferRelativeResize="0"/>
          <p:nvPr/>
        </p:nvPicPr>
        <p:blipFill>
          <a:blip r:embed="rId41">
            <a:alphaModFix/>
          </a:blip>
          <a:stretch>
            <a:fillRect/>
          </a:stretch>
        </p:blipFill>
        <p:spPr>
          <a:xfrm>
            <a:off x="7507850" y="3551650"/>
            <a:ext cx="609600" cy="609600"/>
          </a:xfrm>
          <a:prstGeom prst="rect">
            <a:avLst/>
          </a:prstGeom>
          <a:noFill/>
          <a:ln>
            <a:noFill/>
          </a:ln>
        </p:spPr>
      </p:pic>
      <p:sp>
        <p:nvSpPr>
          <p:cNvPr id="118" name="Google Shape;118;p16"/>
          <p:cNvSpPr txBox="1"/>
          <p:nvPr/>
        </p:nvSpPr>
        <p:spPr>
          <a:xfrm>
            <a:off x="387000" y="4681800"/>
            <a:ext cx="56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119" name="Google Shape;119;p16"/>
          <p:cNvSpPr txBox="1"/>
          <p:nvPr/>
        </p:nvSpPr>
        <p:spPr>
          <a:xfrm>
            <a:off x="722650" y="4313650"/>
            <a:ext cx="7581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Qualitatively, pretty good! GAN images lack definition and more complex features, but match general structure well overall!</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311700" y="153900"/>
            <a:ext cx="8321700" cy="560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latin typeface="Times New Roman"/>
                <a:ea typeface="Times New Roman"/>
                <a:cs typeface="Times New Roman"/>
                <a:sym typeface="Times New Roman"/>
              </a:rPr>
              <a:t>Quantitative Analysis: Radial Light Profile Binning by Color</a:t>
            </a:r>
            <a:endParaRPr b="1">
              <a:latin typeface="Times New Roman"/>
              <a:ea typeface="Times New Roman"/>
              <a:cs typeface="Times New Roman"/>
              <a:sym typeface="Times New Roman"/>
            </a:endParaRPr>
          </a:p>
        </p:txBody>
      </p:sp>
      <p:sp>
        <p:nvSpPr>
          <p:cNvPr id="125" name="Google Shape;125;p17"/>
          <p:cNvSpPr txBox="1"/>
          <p:nvPr>
            <p:ph idx="1" type="body"/>
          </p:nvPr>
        </p:nvSpPr>
        <p:spPr>
          <a:xfrm>
            <a:off x="311700" y="1055375"/>
            <a:ext cx="4594200" cy="396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Method: </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Separated</a:t>
            </a:r>
            <a:r>
              <a:rPr lang="en" sz="1500">
                <a:solidFill>
                  <a:schemeClr val="dk1"/>
                </a:solidFill>
                <a:latin typeface="Times New Roman"/>
                <a:ea typeface="Times New Roman"/>
                <a:cs typeface="Times New Roman"/>
                <a:sym typeface="Times New Roman"/>
              </a:rPr>
              <a:t> Images into 12-px wide radial bins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Measured average color in each bin from 0-1 (red-purple)</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Plotted color curve for each galaxy in Gan output and a random sample from training Images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dk1"/>
                </a:solidFill>
                <a:latin typeface="Times New Roman"/>
                <a:ea typeface="Times New Roman"/>
                <a:cs typeface="Times New Roman"/>
                <a:sym typeface="Times New Roman"/>
              </a:rPr>
              <a:t>Results: </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Both samples decomposed into a bluer set and a redder set of galaxies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Median curves matched very closely in training vs output: GAN performed well</a:t>
            </a:r>
            <a:endParaRPr sz="15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126" name="Google Shape;126;p17" title="Screenshot 2025-10-13 173953.png"/>
          <p:cNvPicPr preferRelativeResize="0"/>
          <p:nvPr/>
        </p:nvPicPr>
        <p:blipFill>
          <a:blip r:embed="rId3">
            <a:alphaModFix/>
          </a:blip>
          <a:stretch>
            <a:fillRect/>
          </a:stretch>
        </p:blipFill>
        <p:spPr>
          <a:xfrm>
            <a:off x="5662218" y="3253924"/>
            <a:ext cx="1953357" cy="1212759"/>
          </a:xfrm>
          <a:prstGeom prst="rect">
            <a:avLst/>
          </a:prstGeom>
          <a:noFill/>
          <a:ln>
            <a:noFill/>
          </a:ln>
        </p:spPr>
      </p:pic>
      <p:pic>
        <p:nvPicPr>
          <p:cNvPr id="127" name="Google Shape;127;p17" title="Screenshot 2025-10-13 174658.png"/>
          <p:cNvPicPr preferRelativeResize="0"/>
          <p:nvPr/>
        </p:nvPicPr>
        <p:blipFill>
          <a:blip r:embed="rId4">
            <a:alphaModFix/>
          </a:blip>
          <a:stretch>
            <a:fillRect/>
          </a:stretch>
        </p:blipFill>
        <p:spPr>
          <a:xfrm>
            <a:off x="5255900" y="2987849"/>
            <a:ext cx="3198350" cy="2032034"/>
          </a:xfrm>
          <a:prstGeom prst="rect">
            <a:avLst/>
          </a:prstGeom>
          <a:noFill/>
          <a:ln>
            <a:noFill/>
          </a:ln>
        </p:spPr>
      </p:pic>
      <p:pic>
        <p:nvPicPr>
          <p:cNvPr id="128" name="Google Shape;128;p17" title="Screenshot 2025-10-13 173953.png"/>
          <p:cNvPicPr preferRelativeResize="0"/>
          <p:nvPr/>
        </p:nvPicPr>
        <p:blipFill>
          <a:blip r:embed="rId3">
            <a:alphaModFix/>
          </a:blip>
          <a:stretch>
            <a:fillRect/>
          </a:stretch>
        </p:blipFill>
        <p:spPr>
          <a:xfrm>
            <a:off x="5255901" y="796925"/>
            <a:ext cx="3198349" cy="19857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311700" y="246175"/>
            <a:ext cx="8474400" cy="52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Radial Color Binning: </a:t>
            </a:r>
            <a:r>
              <a:rPr b="1" lang="en">
                <a:latin typeface="Times New Roman"/>
                <a:ea typeface="Times New Roman"/>
                <a:cs typeface="Times New Roman"/>
                <a:sym typeface="Times New Roman"/>
              </a:rPr>
              <a:t>Error Analysis</a:t>
            </a:r>
            <a:endParaRPr b="1">
              <a:latin typeface="Times New Roman"/>
              <a:ea typeface="Times New Roman"/>
              <a:cs typeface="Times New Roman"/>
              <a:sym typeface="Times New Roman"/>
            </a:endParaRPr>
          </a:p>
        </p:txBody>
      </p:sp>
      <p:sp>
        <p:nvSpPr>
          <p:cNvPr id="134" name="Google Shape;134;p18"/>
          <p:cNvSpPr txBox="1"/>
          <p:nvPr>
            <p:ph idx="1" type="body"/>
          </p:nvPr>
        </p:nvSpPr>
        <p:spPr>
          <a:xfrm>
            <a:off x="193425" y="773725"/>
            <a:ext cx="3135900" cy="3795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Qualitatively, the GAN median curves follow the training sample </a:t>
            </a:r>
            <a:r>
              <a:rPr lang="en" sz="1400">
                <a:solidFill>
                  <a:schemeClr val="dk1"/>
                </a:solidFill>
                <a:latin typeface="Times New Roman"/>
                <a:ea typeface="Times New Roman"/>
                <a:cs typeface="Times New Roman"/>
                <a:sym typeface="Times New Roman"/>
              </a:rPr>
              <a:t>curves</a:t>
            </a:r>
            <a:r>
              <a:rPr lang="en" sz="1400">
                <a:solidFill>
                  <a:schemeClr val="dk1"/>
                </a:solidFill>
                <a:latin typeface="Times New Roman"/>
                <a:ea typeface="Times New Roman"/>
                <a:cs typeface="Times New Roman"/>
                <a:sym typeface="Times New Roman"/>
              </a:rPr>
              <a:t> very closely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For the bluer and redder populations respectively, I obtained a reduced chi2 of .361 and .596.</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These values indicate that the deviation of the training medians from each other were less than the intrinsic scatter of the points in each population, which suggests that the GAN  reproduces general radial color trends well. </a:t>
            </a:r>
            <a:endParaRPr sz="1400">
              <a:solidFill>
                <a:schemeClr val="dk1"/>
              </a:solidFill>
              <a:latin typeface="Times New Roman"/>
              <a:ea typeface="Times New Roman"/>
              <a:cs typeface="Times New Roman"/>
              <a:sym typeface="Times New Roman"/>
            </a:endParaRPr>
          </a:p>
        </p:txBody>
      </p:sp>
      <p:pic>
        <p:nvPicPr>
          <p:cNvPr id="135" name="Google Shape;135;p18" title="Screenshot 2025-10-15 152252.png"/>
          <p:cNvPicPr preferRelativeResize="0"/>
          <p:nvPr/>
        </p:nvPicPr>
        <p:blipFill>
          <a:blip r:embed="rId3">
            <a:alphaModFix/>
          </a:blip>
          <a:stretch>
            <a:fillRect/>
          </a:stretch>
        </p:blipFill>
        <p:spPr>
          <a:xfrm>
            <a:off x="3565450" y="773713"/>
            <a:ext cx="5406923" cy="4201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311700" y="153900"/>
            <a:ext cx="8321700" cy="560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latin typeface="Times New Roman"/>
                <a:ea typeface="Times New Roman"/>
                <a:cs typeface="Times New Roman"/>
                <a:sym typeface="Times New Roman"/>
              </a:rPr>
              <a:t>Quantitative Analysis: Sersic Profile Fitting</a:t>
            </a:r>
            <a:endParaRPr b="1">
              <a:latin typeface="Times New Roman"/>
              <a:ea typeface="Times New Roman"/>
              <a:cs typeface="Times New Roman"/>
              <a:sym typeface="Times New Roman"/>
            </a:endParaRPr>
          </a:p>
        </p:txBody>
      </p:sp>
      <p:sp>
        <p:nvSpPr>
          <p:cNvPr id="141" name="Google Shape;141;p19"/>
          <p:cNvSpPr txBox="1"/>
          <p:nvPr>
            <p:ph idx="1" type="body"/>
          </p:nvPr>
        </p:nvSpPr>
        <p:spPr>
          <a:xfrm>
            <a:off x="311700" y="1055375"/>
            <a:ext cx="4594200" cy="396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Method: </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Fit each galaxy in both sets to a two component (disk+bulge), elliptical sersic profile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Measured and plotted scatter of sersic indices after cleaning values to reasonable ranges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dk1"/>
                </a:solidFill>
                <a:latin typeface="Times New Roman"/>
                <a:ea typeface="Times New Roman"/>
                <a:cs typeface="Times New Roman"/>
                <a:sym typeface="Times New Roman"/>
              </a:rPr>
              <a:t>Results: </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Agreement between the means (means are between 3σ of each other)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GAN again </a:t>
            </a:r>
            <a:r>
              <a:rPr lang="en" sz="1500">
                <a:solidFill>
                  <a:schemeClr val="dk1"/>
                </a:solidFill>
                <a:latin typeface="Times New Roman"/>
                <a:ea typeface="Times New Roman"/>
                <a:cs typeface="Times New Roman"/>
                <a:sym typeface="Times New Roman"/>
              </a:rPr>
              <a:t>quantitatively</a:t>
            </a:r>
            <a:r>
              <a:rPr lang="en" sz="1500">
                <a:solidFill>
                  <a:schemeClr val="dk1"/>
                </a:solidFill>
                <a:latin typeface="Times New Roman"/>
                <a:ea typeface="Times New Roman"/>
                <a:cs typeface="Times New Roman"/>
                <a:sym typeface="Times New Roman"/>
              </a:rPr>
              <a:t> seems to have done well!</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Slightly higher mean value for the GAN galaxies due to some outlier galaxies in the n ~ 2-4 range</a:t>
            </a:r>
            <a:endParaRPr sz="15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142" name="Google Shape;142;p19" title="Screenshot 2025-10-13 214916.png"/>
          <p:cNvPicPr preferRelativeResize="0"/>
          <p:nvPr/>
        </p:nvPicPr>
        <p:blipFill rotWithShape="1">
          <a:blip r:embed="rId3">
            <a:alphaModFix/>
          </a:blip>
          <a:srcRect b="0" l="0" r="0" t="0"/>
          <a:stretch/>
        </p:blipFill>
        <p:spPr>
          <a:xfrm>
            <a:off x="5646025" y="714600"/>
            <a:ext cx="2916825" cy="2065200"/>
          </a:xfrm>
          <a:prstGeom prst="rect">
            <a:avLst/>
          </a:prstGeom>
          <a:noFill/>
          <a:ln>
            <a:noFill/>
          </a:ln>
        </p:spPr>
      </p:pic>
      <p:pic>
        <p:nvPicPr>
          <p:cNvPr id="143" name="Google Shape;143;p19" title="Screenshot 2025-10-13 215803.png"/>
          <p:cNvPicPr preferRelativeResize="0"/>
          <p:nvPr/>
        </p:nvPicPr>
        <p:blipFill>
          <a:blip r:embed="rId4">
            <a:alphaModFix/>
          </a:blip>
          <a:stretch>
            <a:fillRect/>
          </a:stretch>
        </p:blipFill>
        <p:spPr>
          <a:xfrm>
            <a:off x="5610750" y="2890000"/>
            <a:ext cx="2987375" cy="2065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Sersic Model Model Fits!</a:t>
            </a:r>
            <a:endParaRPr b="1">
              <a:latin typeface="Times New Roman"/>
              <a:ea typeface="Times New Roman"/>
              <a:cs typeface="Times New Roman"/>
              <a:sym typeface="Times New Roman"/>
            </a:endParaRPr>
          </a:p>
        </p:txBody>
      </p:sp>
      <p:pic>
        <p:nvPicPr>
          <p:cNvPr id="149" name="Google Shape;149;p20" title="Screenshot 2025-10-13 220030.png"/>
          <p:cNvPicPr preferRelativeResize="0"/>
          <p:nvPr/>
        </p:nvPicPr>
        <p:blipFill>
          <a:blip r:embed="rId3">
            <a:alphaModFix/>
          </a:blip>
          <a:stretch>
            <a:fillRect/>
          </a:stretch>
        </p:blipFill>
        <p:spPr>
          <a:xfrm>
            <a:off x="733575" y="1078737"/>
            <a:ext cx="3684881" cy="1170700"/>
          </a:xfrm>
          <a:prstGeom prst="rect">
            <a:avLst/>
          </a:prstGeom>
          <a:noFill/>
          <a:ln>
            <a:noFill/>
          </a:ln>
        </p:spPr>
      </p:pic>
      <p:pic>
        <p:nvPicPr>
          <p:cNvPr id="150" name="Google Shape;150;p20" title="Screenshot 2025-10-13 220039.png"/>
          <p:cNvPicPr preferRelativeResize="0"/>
          <p:nvPr/>
        </p:nvPicPr>
        <p:blipFill>
          <a:blip r:embed="rId4">
            <a:alphaModFix/>
          </a:blip>
          <a:stretch>
            <a:fillRect/>
          </a:stretch>
        </p:blipFill>
        <p:spPr>
          <a:xfrm>
            <a:off x="4847045" y="2266222"/>
            <a:ext cx="3451672" cy="1224582"/>
          </a:xfrm>
          <a:prstGeom prst="rect">
            <a:avLst/>
          </a:prstGeom>
          <a:noFill/>
          <a:ln>
            <a:noFill/>
          </a:ln>
        </p:spPr>
      </p:pic>
      <p:pic>
        <p:nvPicPr>
          <p:cNvPr id="151" name="Google Shape;151;p20" title="Screenshot 2025-10-13 220109.png"/>
          <p:cNvPicPr preferRelativeResize="0"/>
          <p:nvPr/>
        </p:nvPicPr>
        <p:blipFill>
          <a:blip r:embed="rId5">
            <a:alphaModFix/>
          </a:blip>
          <a:stretch>
            <a:fillRect/>
          </a:stretch>
        </p:blipFill>
        <p:spPr>
          <a:xfrm>
            <a:off x="4776647" y="3571399"/>
            <a:ext cx="3542078" cy="1178561"/>
          </a:xfrm>
          <a:prstGeom prst="rect">
            <a:avLst/>
          </a:prstGeom>
          <a:noFill/>
          <a:ln>
            <a:noFill/>
          </a:ln>
        </p:spPr>
      </p:pic>
      <p:pic>
        <p:nvPicPr>
          <p:cNvPr id="152" name="Google Shape;152;p20" title="Screenshot 2025-10-13 220128.png"/>
          <p:cNvPicPr preferRelativeResize="0"/>
          <p:nvPr/>
        </p:nvPicPr>
        <p:blipFill>
          <a:blip r:embed="rId6">
            <a:alphaModFix/>
          </a:blip>
          <a:stretch>
            <a:fillRect/>
          </a:stretch>
        </p:blipFill>
        <p:spPr>
          <a:xfrm>
            <a:off x="757650" y="3542175"/>
            <a:ext cx="3386225" cy="1244875"/>
          </a:xfrm>
          <a:prstGeom prst="rect">
            <a:avLst/>
          </a:prstGeom>
          <a:noFill/>
          <a:ln>
            <a:noFill/>
          </a:ln>
        </p:spPr>
      </p:pic>
      <p:pic>
        <p:nvPicPr>
          <p:cNvPr id="153" name="Google Shape;153;p20" title="Screenshot 2025-10-13 220138.png"/>
          <p:cNvPicPr preferRelativeResize="0"/>
          <p:nvPr/>
        </p:nvPicPr>
        <p:blipFill>
          <a:blip r:embed="rId7">
            <a:alphaModFix/>
          </a:blip>
          <a:stretch>
            <a:fillRect/>
          </a:stretch>
        </p:blipFill>
        <p:spPr>
          <a:xfrm>
            <a:off x="733575" y="2310450"/>
            <a:ext cx="3434375" cy="1170700"/>
          </a:xfrm>
          <a:prstGeom prst="rect">
            <a:avLst/>
          </a:prstGeom>
          <a:noFill/>
          <a:ln>
            <a:noFill/>
          </a:ln>
        </p:spPr>
      </p:pic>
      <p:pic>
        <p:nvPicPr>
          <p:cNvPr id="154" name="Google Shape;154;p20" title="Screenshot 2025-10-13 220017.png"/>
          <p:cNvPicPr preferRelativeResize="0"/>
          <p:nvPr/>
        </p:nvPicPr>
        <p:blipFill>
          <a:blip r:embed="rId8">
            <a:alphaModFix/>
          </a:blip>
          <a:stretch>
            <a:fillRect/>
          </a:stretch>
        </p:blipFill>
        <p:spPr>
          <a:xfrm>
            <a:off x="4806773" y="1041638"/>
            <a:ext cx="3628827" cy="12245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60" name="Google Shape;16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Qualitatively, our GAN model did a good job of reproducing real galaxies. While it failed to capture more complex features, it was able to capture several distinct morphological types and produce images that generalized galaxy ight profiles very well</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Quantitatively</a:t>
            </a:r>
            <a:r>
              <a:rPr lang="en">
                <a:solidFill>
                  <a:schemeClr val="dk1"/>
                </a:solidFill>
                <a:latin typeface="Times New Roman"/>
                <a:ea typeface="Times New Roman"/>
                <a:cs typeface="Times New Roman"/>
                <a:sym typeface="Times New Roman"/>
              </a:rPr>
              <a:t>, it performed extremely well. Both the light and color </a:t>
            </a:r>
            <a:r>
              <a:rPr lang="en">
                <a:solidFill>
                  <a:schemeClr val="dk1"/>
                </a:solidFill>
                <a:latin typeface="Times New Roman"/>
                <a:ea typeface="Times New Roman"/>
                <a:cs typeface="Times New Roman"/>
                <a:sym typeface="Times New Roman"/>
              </a:rPr>
              <a:t>profiles</a:t>
            </a:r>
            <a:r>
              <a:rPr lang="en">
                <a:solidFill>
                  <a:schemeClr val="dk1"/>
                </a:solidFill>
                <a:latin typeface="Times New Roman"/>
                <a:ea typeface="Times New Roman"/>
                <a:cs typeface="Times New Roman"/>
                <a:sym typeface="Times New Roman"/>
              </a:rPr>
              <a:t> of the </a:t>
            </a:r>
            <a:r>
              <a:rPr lang="en">
                <a:solidFill>
                  <a:schemeClr val="dk1"/>
                </a:solidFill>
                <a:latin typeface="Times New Roman"/>
                <a:ea typeface="Times New Roman"/>
                <a:cs typeface="Times New Roman"/>
                <a:sym typeface="Times New Roman"/>
              </a:rPr>
              <a:t>galaxies</a:t>
            </a:r>
            <a:r>
              <a:rPr lang="en">
                <a:solidFill>
                  <a:schemeClr val="dk1"/>
                </a:solidFill>
                <a:latin typeface="Times New Roman"/>
                <a:ea typeface="Times New Roman"/>
                <a:cs typeface="Times New Roman"/>
                <a:sym typeface="Times New Roman"/>
              </a:rPr>
              <a:t> it produced </a:t>
            </a:r>
            <a:r>
              <a:rPr lang="en">
                <a:solidFill>
                  <a:schemeClr val="dk1"/>
                </a:solidFill>
                <a:latin typeface="Times New Roman"/>
                <a:ea typeface="Times New Roman"/>
                <a:cs typeface="Times New Roman"/>
                <a:sym typeface="Times New Roman"/>
              </a:rPr>
              <a:t>match</a:t>
            </a:r>
            <a:r>
              <a:rPr lang="en">
                <a:solidFill>
                  <a:schemeClr val="dk1"/>
                </a:solidFill>
                <a:latin typeface="Times New Roman"/>
                <a:ea typeface="Times New Roman"/>
                <a:cs typeface="Times New Roman"/>
                <a:sym typeface="Times New Roman"/>
              </a:rPr>
              <a:t> up with the training inputs within 3</a:t>
            </a:r>
            <a:r>
              <a:rPr lang="en" sz="1500">
                <a:solidFill>
                  <a:schemeClr val="dk1"/>
                </a:solidFill>
                <a:latin typeface="Times New Roman"/>
                <a:ea typeface="Times New Roman"/>
                <a:cs typeface="Times New Roman"/>
                <a:sym typeface="Times New Roman"/>
              </a:rPr>
              <a:t>σ</a:t>
            </a:r>
            <a:endParaRPr sz="15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Next steps include continuing to refine GAN architecture, experimenting with the applications of CNN networks to evaluate discriminator and generator accuracy, and more robust </a:t>
            </a:r>
            <a:r>
              <a:rPr lang="en">
                <a:solidFill>
                  <a:schemeClr val="dk1"/>
                </a:solidFill>
                <a:latin typeface="Times New Roman"/>
                <a:ea typeface="Times New Roman"/>
                <a:cs typeface="Times New Roman"/>
                <a:sym typeface="Times New Roman"/>
              </a:rPr>
              <a:t>galactic</a:t>
            </a:r>
            <a:r>
              <a:rPr lang="en">
                <a:solidFill>
                  <a:schemeClr val="dk1"/>
                </a:solidFill>
                <a:latin typeface="Times New Roman"/>
                <a:ea typeface="Times New Roman"/>
                <a:cs typeface="Times New Roman"/>
                <a:sym typeface="Times New Roman"/>
              </a:rPr>
              <a:t> analysis. </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